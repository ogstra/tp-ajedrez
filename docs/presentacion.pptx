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del trabajo: un ajedrez con núcleo y adaptadores, hecho para el TPO de Ingeniería de Software.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Todo el alcance obligatorio está hecho y también todos los opcionales de la consigna. Lo importante no es la lista sino cómo está armado, que es lo que sigue.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núcleo tiene las reglas. Los puertos son las interfaces con las que habla con el exterior. Los adaptadores son la consola, la ventana y la IA. Las flechas muestran quién depende de quién: nunca el núcleo de un adaptador.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Recorrer el diagrama por paquetes: nucleo, puertos, adaptadores y ai. Señalar la interfaz IChessGame como única entrada y las estrategias de movimiento.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criterio de la cátedra: si cambia la tecnología, ¿esto cambia? Si la respuesta es no, es núcleo. La prueba de que funciona es que la ventana Swing se agregó después sin modificar ChessGame.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mundo exterior le habla al núcleo por una sola interfaz, IChessGame, aunque haya teclado, mouse y IA. Hacia afuera hay un puerto chico por cada cosa que se pide: lo que pasa con las piezas, el estado de la partida, a qué pieza se corona y dónde se guardan los usuarios.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ChessGame no crea nada: recibe el tablero, los listeners, las reglas especiales y las de tablas ya armadas. Solo Main y MainSwing arman el conjunto. Por eso en los tests se le pasa un stub o un mock.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hay una subclase por pieza. Piece guarda tipo, color y una estrategia de movimiento. La reina no hereda de la torre ni del alfil: compone una de cada una. Una pieza nueva es una estrategia nueva.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PieceFactory es un registro: se le suman tipos con register(). PieceType es una clase de valor y no un enum porque un enum es cerrado y agregar una pieza obligaba a editar la fábrica. BoardSetup arma el tablero inicial de cualquier tamaño y Opponents crea el oponente por nivel.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Cada comando guarda lo necesario para revertir: la pieza capturada, la torre del enroque, el peón de la coronación. ChessGame tiene un historial y una pila de rehacer. Además, las casillas que toca cada jugada sirven para saber si el rey o la torre ya se movieron, sin guardar banderas.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turno alterna entre dos estados. Cuando la partida termina, el estado pasa a uno terminal: mate, ahogado o tablas. De un estado terminal no se sale jugando, solo deshaciendo, que vuelve al estado anterior. No hay un booleano gameOver.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observer se partió en dos interfaces para que quien solo quiere saber de movimientos no tenga que implementar el estado de la partida. Los dos adaptadores los implementan y los tests usan un mock que registra los avisos.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ISpecialMove cubre las jugadas que no son mover a una casilla que el movimiento de la pieza ya permite: enroque, captura al paso y coronación. IDrawRule cubre las tablas. ChessGame las recibe por constructor y no sabe cuáles son ni cuántas.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cosas que pueden pedir en la defensa individual: una pieza nueva, otro tamaño de tablero y una regla nueva. Las tres se hacen sin editar clases existentes y cada una tiene un test que lo demuestra.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tests corren solo con javac, sin librerías: ./scripts/test.sh compila y corre todo. Usan Arrange, Act, Assert, un stub y un mock. Los marcados TDD se escribieron antes que el código. Además hay pruebas de integración de la ventana Swing.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IA no forma parte de las reglas, por eso vive en el paquete ai y solo conoce IChessGame. Piensa sobre una copia de la partida, así que nunca toca la pantalla. El nivel difícil es un minimax de dos jugadas que evalúa con el material y un poco de criterio posicional (centro, desarrollo, seguridad del rey); no ve más allá de dos jugadas y puede equivocarse con el enroque, porque la copia no tiene historial.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cuentas no son reglas del ajedrez: viven en el paquete usuarios. ScoreRecorder escucha la partida con los mismos listeners que la consola y la ventana, y acredita el resultado. Guardar es un puerto, IAccountStore; hoy lo implementa un CSV y mañana podría ser una base de datos sin cambiar nada más.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Resumen del documento de justificación: cada decisión se explica en tres partes, qué, por qué y cuándo se rompería. Acá va solo la primera y la última. El detalle está en docs/justificacion.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Demostración en vivo: abrir MainSwing. En el menú, registrar dos usuarios y jugar 1 contra 1 con enroque, coronación y captura al paso; deshacer y rehacer; ver el ranking. Después, contra la IA en nivel difícil jugando con negras (el tablero se gira). Cerrar mostrando en el código cómo se suma una pieza nueva.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29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41732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A9C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PRÁCTICO OBLIGATORIO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731520" y="1828800"/>
            <a:ext cx="5943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Ajedrez</a:t>
            </a:r>
            <a:endParaRPr lang="en-US" sz="6600" dirty="0"/>
          </a:p>
        </p:txBody>
      </p:sp>
      <p:sp>
        <p:nvSpPr>
          <p:cNvPr id="5" name="Text 2"/>
          <p:cNvSpPr/>
          <p:nvPr/>
        </p:nvSpPr>
        <p:spPr>
          <a:xfrm>
            <a:off x="731520" y="3017520"/>
            <a:ext cx="5943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dirty="0">
                <a:solidFill>
                  <a:srgbClr val="C7D6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Núcleo y adaptadores</a:t>
            </a:r>
            <a:endParaRPr lang="en-US" sz="3200" dirty="0"/>
          </a:p>
        </p:txBody>
      </p:sp>
      <p:sp>
        <p:nvSpPr>
          <p:cNvPr id="6" name="Text 3"/>
          <p:cNvSpPr/>
          <p:nvPr/>
        </p:nvSpPr>
        <p:spPr>
          <a:xfrm>
            <a:off x="731520" y="397764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D5DB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Ingeniería de Software · UADE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31520" y="502920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Franco Beron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731520" y="544068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AB3A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de noviembre de 2026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6858000" y="585216"/>
            <a:ext cx="5279050" cy="56875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0" name="Image 0" descr="/Users/francodamianberon/UADE/Ingenieria de Software/TP - Ajedrez/docs/captur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12864" y="640080"/>
            <a:ext cx="5169322" cy="55778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CONSIGNA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pedía el TPO y lo que hicimos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41908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Ajedrez · Ingeniería de Software · UADE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40080" y="1737360"/>
            <a:ext cx="5303520" cy="4434840"/>
          </a:xfrm>
          <a:prstGeom prst="rect">
            <a:avLst/>
          </a:prstGeom>
          <a:solidFill>
            <a:srgbClr val="F5F6F2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217920" y="1737360"/>
            <a:ext cx="5303520" cy="4434840"/>
          </a:xfrm>
          <a:prstGeom prst="rect">
            <a:avLst/>
          </a:prstGeom>
          <a:solidFill>
            <a:srgbClr val="F5F6F2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14400" y="19202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Obligatorio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6492240" y="19202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Opcional, también hecho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914400" y="277063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207008" y="2560320"/>
            <a:ext cx="4553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Tablero de 8x8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914400" y="331927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207008" y="3108960"/>
            <a:ext cx="4553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6 piezas, cada una con su movimiento</a:t>
            </a:r>
            <a:endParaRPr lang="en-US" sz="1700" dirty="0"/>
          </a:p>
        </p:txBody>
      </p:sp>
      <p:sp>
        <p:nvSpPr>
          <p:cNvPr id="15" name="Shape 12"/>
          <p:cNvSpPr/>
          <p:nvPr/>
        </p:nvSpPr>
        <p:spPr>
          <a:xfrm>
            <a:off x="914400" y="386791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207008" y="3657600"/>
            <a:ext cx="4553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Alternancia de turnos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914400" y="441655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207008" y="4206240"/>
            <a:ext cx="4553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de piezas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914400" y="496519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1207008" y="4754880"/>
            <a:ext cx="4553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Validación de movimientos inválidos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914400" y="551383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207008" y="5303520"/>
            <a:ext cx="4553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Detección de jaque</a:t>
            </a:r>
            <a:endParaRPr lang="en-US" sz="1700" dirty="0"/>
          </a:p>
        </p:txBody>
      </p:sp>
      <p:sp>
        <p:nvSpPr>
          <p:cNvPr id="23" name="Shape 20"/>
          <p:cNvSpPr/>
          <p:nvPr/>
        </p:nvSpPr>
        <p:spPr>
          <a:xfrm>
            <a:off x="6492240" y="277063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784848" y="2560320"/>
            <a:ext cx="4553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Jaque mate y ahogado</a:t>
            </a:r>
            <a:endParaRPr lang="en-US" sz="1700" dirty="0"/>
          </a:p>
        </p:txBody>
      </p:sp>
      <p:sp>
        <p:nvSpPr>
          <p:cNvPr id="25" name="Shape 22"/>
          <p:cNvSpPr/>
          <p:nvPr/>
        </p:nvSpPr>
        <p:spPr>
          <a:xfrm>
            <a:off x="6492240" y="331927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784848" y="3108960"/>
            <a:ext cx="4553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Enroque, captura al paso y coronación</a:t>
            </a:r>
            <a:endParaRPr lang="en-US" sz="1700" dirty="0"/>
          </a:p>
        </p:txBody>
      </p:sp>
      <p:sp>
        <p:nvSpPr>
          <p:cNvPr id="27" name="Shape 24"/>
          <p:cNvSpPr/>
          <p:nvPr/>
        </p:nvSpPr>
        <p:spPr>
          <a:xfrm>
            <a:off x="6492240" y="386791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784848" y="3657600"/>
            <a:ext cx="4553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Tablas: material, 50 movimientos, repetición</a:t>
            </a:r>
            <a:endParaRPr lang="en-US" sz="1700" dirty="0"/>
          </a:p>
        </p:txBody>
      </p:sp>
      <p:sp>
        <p:nvSpPr>
          <p:cNvPr id="29" name="Shape 26"/>
          <p:cNvSpPr/>
          <p:nvPr/>
        </p:nvSpPr>
        <p:spPr>
          <a:xfrm>
            <a:off x="6492240" y="441655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784848" y="4206240"/>
            <a:ext cx="4553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Deshacer y rehacer</a:t>
            </a:r>
            <a:endParaRPr lang="en-US" sz="1700" dirty="0"/>
          </a:p>
        </p:txBody>
      </p:sp>
      <p:sp>
        <p:nvSpPr>
          <p:cNvPr id="31" name="Shape 28"/>
          <p:cNvSpPr/>
          <p:nvPr/>
        </p:nvSpPr>
        <p:spPr>
          <a:xfrm>
            <a:off x="6492240" y="496519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784848" y="4754880"/>
            <a:ext cx="4553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Interfaz gráfica</a:t>
            </a:r>
            <a:endParaRPr lang="en-US" sz="1700" dirty="0"/>
          </a:p>
        </p:txBody>
      </p:sp>
      <p:sp>
        <p:nvSpPr>
          <p:cNvPr id="33" name="Shape 30"/>
          <p:cNvSpPr/>
          <p:nvPr/>
        </p:nvSpPr>
        <p:spPr>
          <a:xfrm>
            <a:off x="6492240" y="551383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784848" y="5303520"/>
            <a:ext cx="45537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Oponente con IA en tres niveles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ARQUITECTURA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zonas y una regla: todo apunta hacia adentro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41908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Ajedrez · Ingeniería de Software · UADE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40080" y="1783080"/>
            <a:ext cx="3108960" cy="3246120"/>
          </a:xfrm>
          <a:prstGeom prst="rect">
            <a:avLst/>
          </a:prstGeom>
          <a:solidFill>
            <a:srgbClr val="F5F6F2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40080" y="1783080"/>
            <a:ext cx="3108960" cy="502920"/>
          </a:xfrm>
          <a:prstGeom prst="rect">
            <a:avLst/>
          </a:prstGeom>
          <a:solidFill>
            <a:srgbClr val="4B5563"/>
          </a:solidFill>
          <a:ln w="9525">
            <a:solidFill>
              <a:srgbClr val="4B5563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0080" y="17830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ADAPTADORES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868680" y="246888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Consola y ventana Swing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868680" y="3090672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FileAccountStore (CSV)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68680" y="3712464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y MainSwing (arman todo)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868680" y="4334256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ai/: el oponente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4526280" y="1783080"/>
            <a:ext cx="3108960" cy="3246120"/>
          </a:xfrm>
          <a:prstGeom prst="rect">
            <a:avLst/>
          </a:prstGeom>
          <a:solidFill>
            <a:srgbClr val="F5F6F2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526280" y="1783080"/>
            <a:ext cx="3108960" cy="502920"/>
          </a:xfrm>
          <a:prstGeom prst="rect">
            <a:avLst/>
          </a:prstGeom>
          <a:solidFill>
            <a:srgbClr val="EAF0E4"/>
          </a:solidFill>
          <a:ln w="9525">
            <a:solidFill>
              <a:srgbClr val="466A3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526280" y="17830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PUERTOS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4754880" y="246888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IChessGame (entrada)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4754880" y="3090672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listeners (Observer)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4754880" y="3712464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IPromotionChooser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4754880" y="4334256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IAccountStore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8412480" y="1783080"/>
            <a:ext cx="3108960" cy="3246120"/>
          </a:xfrm>
          <a:prstGeom prst="rect">
            <a:avLst/>
          </a:prstGeom>
          <a:solidFill>
            <a:srgbClr val="F5F6F2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8412480" y="1783080"/>
            <a:ext cx="3108960" cy="502920"/>
          </a:xfrm>
          <a:prstGeom prst="rect">
            <a:avLst/>
          </a:prstGeom>
          <a:solidFill>
            <a:srgbClr val="466A38"/>
          </a:solidFill>
          <a:ln w="9525">
            <a:solidFill>
              <a:srgbClr val="466A3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412480" y="17830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NÚCLEO</a:t>
            </a:r>
            <a:endParaRPr lang="en-US" sz="1500" dirty="0"/>
          </a:p>
        </p:txBody>
      </p:sp>
      <p:sp>
        <p:nvSpPr>
          <p:cNvPr id="24" name="Text 21"/>
          <p:cNvSpPr/>
          <p:nvPr/>
        </p:nvSpPr>
        <p:spPr>
          <a:xfrm>
            <a:off x="8641080" y="246888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ChessGame</a:t>
            </a:r>
            <a:endParaRPr lang="en-US" sz="1600" dirty="0"/>
          </a:p>
        </p:txBody>
      </p:sp>
      <p:sp>
        <p:nvSpPr>
          <p:cNvPr id="25" name="Text 22"/>
          <p:cNvSpPr/>
          <p:nvPr/>
        </p:nvSpPr>
        <p:spPr>
          <a:xfrm>
            <a:off x="8641080" y="3090672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Board, Piece, estrategias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8641080" y="3712464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Comandos y estados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8641080" y="4334256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especiales y de tablas</a:t>
            </a:r>
            <a:endParaRPr lang="en-US" sz="1600" dirty="0"/>
          </a:p>
        </p:txBody>
      </p:sp>
      <p:sp>
        <p:nvSpPr>
          <p:cNvPr id="28" name="Shape 25"/>
          <p:cNvSpPr/>
          <p:nvPr/>
        </p:nvSpPr>
        <p:spPr>
          <a:xfrm>
            <a:off x="3794760" y="3401568"/>
            <a:ext cx="685800" cy="0"/>
          </a:xfrm>
          <a:prstGeom prst="line">
            <a:avLst/>
          </a:prstGeom>
          <a:noFill/>
          <a:ln w="19050">
            <a:solidFill>
              <a:srgbClr val="466A38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7680960" y="3401568"/>
            <a:ext cx="685800" cy="0"/>
          </a:xfrm>
          <a:prstGeom prst="line">
            <a:avLst/>
          </a:prstGeom>
          <a:noFill/>
          <a:ln w="19050">
            <a:solidFill>
              <a:srgbClr val="466A38"/>
            </a:solidFill>
            <a:prstDash val="solid"/>
            <a:tailEnd type="triangle"/>
          </a:ln>
        </p:spPr>
      </p:sp>
      <p:sp>
        <p:nvSpPr>
          <p:cNvPr id="30" name="Shape 27"/>
          <p:cNvSpPr/>
          <p:nvPr/>
        </p:nvSpPr>
        <p:spPr>
          <a:xfrm>
            <a:off x="640080" y="5349240"/>
            <a:ext cx="1088136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14400" y="534924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466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nucleo</a:t>
            </a:r>
            <a:pPr indent="0" marL="0">
              <a:buNone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 importa nada de </a:t>
            </a:r>
            <a:pPr indent="0" marL="0">
              <a:buNone/>
            </a:pPr>
            <a:r>
              <a:rPr lang="en-US" sz="1800" b="1" dirty="0">
                <a:solidFill>
                  <a:srgbClr val="466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adaptadores</a:t>
            </a:r>
            <a:pPr indent="0" marL="0">
              <a:buNone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ni de </a:t>
            </a:r>
            <a:pPr indent="0" marL="0">
              <a:buNone/>
            </a:pPr>
            <a:r>
              <a:rPr lang="en-US" sz="1800" b="1" dirty="0">
                <a:solidFill>
                  <a:srgbClr val="466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ai</a:t>
            </a:r>
            <a:pPr indent="0" marL="0">
              <a:buNone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Por eso la ventana y la IA se agregaron sin tocar el núcleo.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DIAGRAMA DE CLASES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UML refleja el código real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41908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Ajedrez · Ingeniería de Software · UADE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78308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mirar</a:t>
            </a:r>
            <a:endParaRPr lang="en-US" sz="2000" dirty="0"/>
          </a:p>
        </p:txBody>
      </p:sp>
      <p:sp>
        <p:nvSpPr>
          <p:cNvPr id="8" name="Shape 5"/>
          <p:cNvSpPr/>
          <p:nvPr/>
        </p:nvSpPr>
        <p:spPr>
          <a:xfrm>
            <a:off x="640080" y="265633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32688" y="233172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sola entrada: IChessGame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640080" y="343357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32688" y="310896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Piece con su estrategia de movimiento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640080" y="421081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32688" y="388620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especiales y de tablas enchufables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640080" y="498805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32688" y="4663440"/>
            <a:ext cx="3273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núcleo sin flechas hacia afuera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4480560" y="1691640"/>
            <a:ext cx="7040880" cy="4526280"/>
          </a:xfrm>
          <a:prstGeom prst="rect">
            <a:avLst/>
          </a:prstGeom>
          <a:solidFill>
            <a:srgbClr val="FFFFFF"/>
          </a:solidFill>
          <a:ln w="15875">
            <a:solidFill>
              <a:srgbClr val="6B7280"/>
            </a:solidFill>
            <a:prstDash val="dash"/>
          </a:ln>
        </p:spPr>
      </p:sp>
      <p:sp>
        <p:nvSpPr>
          <p:cNvPr id="17" name="Text 14"/>
          <p:cNvSpPr/>
          <p:nvPr/>
        </p:nvSpPr>
        <p:spPr>
          <a:xfrm>
            <a:off x="4480560" y="3383280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Acá va el diagrama de clases (UML)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4480560" y="3794760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docs/uml.png, y después node scripts/build_deck.js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NÚCLEO Y ADAPTADORES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sola pregunta separa las dos zonas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41908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Ajedrez · Ingeniería de Software · UADE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69164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i="1" dirty="0">
                <a:solidFill>
                  <a:srgbClr val="466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¿Esto cambia si cambia la tecnología?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640080" y="2423160"/>
            <a:ext cx="5303520" cy="3429000"/>
          </a:xfrm>
          <a:prstGeom prst="rect">
            <a:avLst/>
          </a:prstGeom>
          <a:solidFill>
            <a:srgbClr val="F5F6F2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6217920" y="2423160"/>
            <a:ext cx="5303520" cy="3429000"/>
          </a:xfrm>
          <a:prstGeom prst="rect">
            <a:avLst/>
          </a:prstGeom>
          <a:solidFill>
            <a:srgbClr val="F5F6F2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14400" y="26060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Núcleo: no cambia</a:t>
            </a:r>
            <a:endParaRPr lang="en-US" sz="2100" dirty="0"/>
          </a:p>
        </p:txBody>
      </p:sp>
      <p:sp>
        <p:nvSpPr>
          <p:cNvPr id="11" name="Text 8"/>
          <p:cNvSpPr/>
          <p:nvPr/>
        </p:nvSpPr>
        <p:spPr>
          <a:xfrm>
            <a:off x="6492240" y="26060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Adaptadores: sí cambian</a:t>
            </a:r>
            <a:endParaRPr lang="en-US" sz="2100" dirty="0"/>
          </a:p>
        </p:txBody>
      </p:sp>
      <p:sp>
        <p:nvSpPr>
          <p:cNvPr id="12" name="Shape 9"/>
          <p:cNvSpPr/>
          <p:nvPr/>
        </p:nvSpPr>
        <p:spPr>
          <a:xfrm>
            <a:off x="914400" y="343357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207008" y="3200400"/>
            <a:ext cx="45537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mueve cada pieza</a:t>
            </a:r>
            <a:endParaRPr lang="en-US" sz="1700" dirty="0"/>
          </a:p>
        </p:txBody>
      </p:sp>
      <p:sp>
        <p:nvSpPr>
          <p:cNvPr id="14" name="Shape 11"/>
          <p:cNvSpPr/>
          <p:nvPr/>
        </p:nvSpPr>
        <p:spPr>
          <a:xfrm>
            <a:off x="914400" y="402793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207008" y="3794760"/>
            <a:ext cx="45537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Turnos, jaque, mate y ahogado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914400" y="462229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207008" y="4389120"/>
            <a:ext cx="45537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Enroque, coronación y captura al paso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914400" y="521665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207008" y="4983480"/>
            <a:ext cx="45537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Tablas y deshacer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6492240" y="343357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6784848" y="3200400"/>
            <a:ext cx="45537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Consola y ventana Swing</a:t>
            </a:r>
            <a:endParaRPr lang="en-US" sz="1700" dirty="0"/>
          </a:p>
        </p:txBody>
      </p:sp>
      <p:sp>
        <p:nvSpPr>
          <p:cNvPr id="22" name="Shape 19"/>
          <p:cNvSpPr/>
          <p:nvPr/>
        </p:nvSpPr>
        <p:spPr>
          <a:xfrm>
            <a:off x="6492240" y="402793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784848" y="3794760"/>
            <a:ext cx="45537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Teclado, mouse y diálogos</a:t>
            </a:r>
            <a:endParaRPr lang="en-US" sz="1700" dirty="0"/>
          </a:p>
        </p:txBody>
      </p:sp>
      <p:sp>
        <p:nvSpPr>
          <p:cNvPr id="24" name="Shape 21"/>
          <p:cNvSpPr/>
          <p:nvPr/>
        </p:nvSpPr>
        <p:spPr>
          <a:xfrm>
            <a:off x="6492240" y="462229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6784848" y="4389120"/>
            <a:ext cx="45537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imágenes de las piezas</a:t>
            </a:r>
            <a:endParaRPr lang="en-US" sz="1700" dirty="0"/>
          </a:p>
        </p:txBody>
      </p:sp>
      <p:sp>
        <p:nvSpPr>
          <p:cNvPr id="26" name="Shape 23"/>
          <p:cNvSpPr/>
          <p:nvPr/>
        </p:nvSpPr>
        <p:spPr>
          <a:xfrm>
            <a:off x="6492240" y="521665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784848" y="4983480"/>
            <a:ext cx="45537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oponente con IA</a:t>
            </a:r>
            <a:endParaRPr lang="en-US" sz="1700" dirty="0"/>
          </a:p>
        </p:txBody>
      </p:sp>
      <p:sp>
        <p:nvSpPr>
          <p:cNvPr id="28" name="Text 25"/>
          <p:cNvSpPr/>
          <p:nvPr/>
        </p:nvSpPr>
        <p:spPr>
          <a:xfrm>
            <a:off x="640080" y="59893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ventana Swing se agregó después sin tocar ChessGame.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PUERTOS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entrada y cuatro salidas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41908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Ajedrez · Ingeniería de Software · UADE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2651760" y="2011680"/>
            <a:ext cx="2103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PUERTO DE ENTRADA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7040880" y="20116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PUERTOS DE SALIDA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40080" y="2468880"/>
            <a:ext cx="18288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0080" y="2468880"/>
            <a:ext cx="1828800" cy="23774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MainSwing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IA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2834640" y="2468880"/>
            <a:ext cx="1737360" cy="2377440"/>
          </a:xfrm>
          <a:prstGeom prst="rect">
            <a:avLst/>
          </a:prstGeom>
          <a:solidFill>
            <a:srgbClr val="EAF0E4"/>
          </a:solidFill>
          <a:ln w="25400">
            <a:solidFill>
              <a:srgbClr val="466A3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2834640" y="2468880"/>
            <a:ext cx="1737360" cy="23774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IChessGame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937760" y="2468880"/>
            <a:ext cx="173736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937760" y="2468880"/>
            <a:ext cx="1737360" cy="23774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ChessGame</a:t>
            </a:r>
            <a:endParaRPr lang="en-US" sz="1600" dirty="0"/>
          </a:p>
          <a:p>
            <a:pPr algn="ctr" indent="0" marL="0">
              <a:buNone/>
            </a:pPr>
            <a:endParaRPr lang="en-US" sz="1600" dirty="0"/>
          </a:p>
          <a:p>
            <a:pPr algn="ctr" indent="0" marL="0">
              <a:buNone/>
            </a:pPr>
            <a:r>
              <a:rPr lang="en-US" sz="16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(núcleo)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7040880" y="2468880"/>
            <a:ext cx="2286000" cy="512064"/>
          </a:xfrm>
          <a:prstGeom prst="rect">
            <a:avLst/>
          </a:prstGeom>
          <a:solidFill>
            <a:srgbClr val="EAF0E4"/>
          </a:solidFill>
          <a:ln w="19050">
            <a:solidFill>
              <a:srgbClr val="466A3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040880" y="2468880"/>
            <a:ext cx="2286000" cy="51206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IMoveListener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040880" y="3090672"/>
            <a:ext cx="2286000" cy="512064"/>
          </a:xfrm>
          <a:prstGeom prst="rect">
            <a:avLst/>
          </a:prstGeom>
          <a:solidFill>
            <a:srgbClr val="EAF0E4"/>
          </a:solidFill>
          <a:ln w="19050">
            <a:solidFill>
              <a:srgbClr val="466A3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040880" y="3090672"/>
            <a:ext cx="2286000" cy="51206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IGameStatusListener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040880" y="3712464"/>
            <a:ext cx="2286000" cy="512064"/>
          </a:xfrm>
          <a:prstGeom prst="rect">
            <a:avLst/>
          </a:prstGeom>
          <a:solidFill>
            <a:srgbClr val="EAF0E4"/>
          </a:solidFill>
          <a:ln w="19050">
            <a:solidFill>
              <a:srgbClr val="466A3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040880" y="3712464"/>
            <a:ext cx="2286000" cy="51206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IPromotionChooser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7040880" y="4334256"/>
            <a:ext cx="2286000" cy="512064"/>
          </a:xfrm>
          <a:prstGeom prst="rect">
            <a:avLst/>
          </a:prstGeom>
          <a:solidFill>
            <a:srgbClr val="EAF0E4"/>
          </a:solidFill>
          <a:ln w="19050">
            <a:solidFill>
              <a:srgbClr val="466A3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040880" y="4334256"/>
            <a:ext cx="2286000" cy="512064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IAccountStore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9692640" y="2468880"/>
            <a:ext cx="18288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692640" y="2468880"/>
            <a:ext cx="1828800" cy="23774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ConsoleRenderer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SwingChessView</a:t>
            </a:r>
            <a:endParaRPr lang="en-US" sz="1400" dirty="0"/>
          </a:p>
          <a:p>
            <a:pPr algn="ctr" indent="0" marL="0">
              <a:buNone/>
            </a:pP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FileAccountStore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2468880" y="3657600"/>
            <a:ext cx="365760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6" name="Shape 23"/>
          <p:cNvSpPr/>
          <p:nvPr/>
        </p:nvSpPr>
        <p:spPr>
          <a:xfrm flipH="1">
            <a:off x="4572000" y="3657600"/>
            <a:ext cx="365760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6675120" y="3657600"/>
            <a:ext cx="365760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8" name="Shape 25"/>
          <p:cNvSpPr/>
          <p:nvPr/>
        </p:nvSpPr>
        <p:spPr>
          <a:xfrm flipH="1">
            <a:off x="9326880" y="3657600"/>
            <a:ext cx="365760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9" name="Shape 26"/>
          <p:cNvSpPr/>
          <p:nvPr/>
        </p:nvSpPr>
        <p:spPr>
          <a:xfrm>
            <a:off x="640080" y="519379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932688" y="5029200"/>
            <a:ext cx="10588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puerto de entrada, aunque haya varios que lo usen</a:t>
            </a:r>
            <a:endParaRPr lang="en-US" sz="1600" dirty="0"/>
          </a:p>
        </p:txBody>
      </p:sp>
      <p:sp>
        <p:nvSpPr>
          <p:cNvPr id="31" name="Shape 28"/>
          <p:cNvSpPr/>
          <p:nvPr/>
        </p:nvSpPr>
        <p:spPr>
          <a:xfrm>
            <a:off x="640080" y="565099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932688" y="5486400"/>
            <a:ext cx="10588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puerto de salida por cada cosa distinta que el núcleo pide afuera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640080" y="59893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flechas van de quien depende o implementa hacia la interfaz.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INYECCIÓN DE DEPENDENCIAS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Todo entra por el constructor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41908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Ajedrez · Ingeniería de Software · UADE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40080" y="1828800"/>
            <a:ext cx="5852160" cy="2743200"/>
          </a:xfrm>
          <a:prstGeom prst="rect">
            <a:avLst/>
          </a:prstGeom>
          <a:solidFill>
            <a:srgbClr val="F1F2EC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1938528"/>
            <a:ext cx="5486400" cy="2523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IChessGame game = new ChessGame(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board,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moveListeners,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statusListeners,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specialMoves,</a:t>
            </a:r>
            <a:endParaRPr lang="en-US" sz="2000" dirty="0"/>
          </a:p>
          <a:p>
            <a:pPr indent="0" marL="0">
              <a:buNone/>
            </a:pPr>
            <a:r>
              <a:rPr lang="en-US" sz="20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drawRules);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04088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66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Nivel 4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7040880" y="2212848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se inyecta por constructor, contra interfaces.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7040880" y="306324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66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solo lugar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7040880" y="3447288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 y MainSwing son los únicos que crean y conectan.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7040880" y="429768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466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prueba solo</a:t>
            </a:r>
            <a:endParaRPr lang="en-US" sz="2000" dirty="0"/>
          </a:p>
        </p:txBody>
      </p:sp>
      <p:sp>
        <p:nvSpPr>
          <p:cNvPr id="14" name="Text 11"/>
          <p:cNvSpPr/>
          <p:nvPr/>
        </p:nvSpPr>
        <p:spPr>
          <a:xfrm>
            <a:off x="7040880" y="4681728"/>
            <a:ext cx="4480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tests usan un stub y un mock en lugar de la consola.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640080" y="562356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colaboradores no son un problema de responsabilidad: cada uno es algo externo distinto.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Y COMPOSICIÓN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sola clase Piece, que tiene su movimiento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41908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Ajedrez · Ingeniería de Software · UADE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40080" y="1828800"/>
            <a:ext cx="219456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1828800"/>
            <a:ext cx="2194560" cy="17373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Piece</a:t>
            </a:r>
            <a:endParaRPr lang="en-US" sz="1500" dirty="0"/>
          </a:p>
          <a:p>
            <a:pPr algn="ctr" indent="0" marL="0">
              <a:buNone/>
            </a:pP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color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movement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3657600" y="2331720"/>
            <a:ext cx="2834640" cy="731520"/>
          </a:xfrm>
          <a:prstGeom prst="rect">
            <a:avLst/>
          </a:prstGeom>
          <a:solidFill>
            <a:srgbClr val="EAF0E4"/>
          </a:solidFill>
          <a:ln w="25400">
            <a:solidFill>
              <a:srgbClr val="466A3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657600" y="2331720"/>
            <a:ext cx="2834640" cy="7315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IMovementStrategy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2834640" y="2697480"/>
            <a:ext cx="822960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2" name="Text 9"/>
          <p:cNvSpPr/>
          <p:nvPr/>
        </p:nvSpPr>
        <p:spPr>
          <a:xfrm>
            <a:off x="2788920" y="23317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tiene una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7772400" y="1828800"/>
            <a:ext cx="1783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772400" y="1828800"/>
            <a:ext cx="1783080" cy="56692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Pawn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9692640" y="1828800"/>
            <a:ext cx="1783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692640" y="1828800"/>
            <a:ext cx="1783080" cy="56692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Rook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7772400" y="2560320"/>
            <a:ext cx="1783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772400" y="2560320"/>
            <a:ext cx="1783080" cy="56692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Knight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9692640" y="2560320"/>
            <a:ext cx="1783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692640" y="2560320"/>
            <a:ext cx="1783080" cy="56692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Bishop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7772400" y="3291840"/>
            <a:ext cx="1783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772400" y="3291840"/>
            <a:ext cx="1783080" cy="56692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Queen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9692640" y="3291840"/>
            <a:ext cx="1783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692640" y="3291840"/>
            <a:ext cx="1783080" cy="566928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King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 flipH="1">
            <a:off x="6492240" y="2697480"/>
            <a:ext cx="1188720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6" name="Text 23"/>
          <p:cNvSpPr/>
          <p:nvPr/>
        </p:nvSpPr>
        <p:spPr>
          <a:xfrm>
            <a:off x="6537960" y="23317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implementan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640080" y="393192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 reina compone, no hereda</a:t>
            </a:r>
            <a:endParaRPr lang="en-US" sz="2000" dirty="0"/>
          </a:p>
        </p:txBody>
      </p:sp>
      <p:sp>
        <p:nvSpPr>
          <p:cNvPr id="28" name="Shape 25"/>
          <p:cNvSpPr/>
          <p:nvPr/>
        </p:nvSpPr>
        <p:spPr>
          <a:xfrm>
            <a:off x="1645920" y="4526280"/>
            <a:ext cx="347472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645920" y="4526280"/>
            <a:ext cx="3474720" cy="5486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QueenMovementStrategy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640080" y="5577840"/>
            <a:ext cx="25603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640080" y="5577840"/>
            <a:ext cx="2560320" cy="5029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RookMovementStrategy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3566160" y="5577840"/>
            <a:ext cx="26517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3566160" y="5577840"/>
            <a:ext cx="2651760" cy="5029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BishopMovementStrategy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1920240" y="5074920"/>
            <a:ext cx="0" cy="502920"/>
          </a:xfrm>
          <a:prstGeom prst="line">
            <a:avLst/>
          </a:prstGeom>
          <a:noFill/>
          <a:ln w="15875">
            <a:solidFill>
              <a:srgbClr val="466A3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846320" y="5074920"/>
            <a:ext cx="0" cy="502920"/>
          </a:xfrm>
          <a:prstGeom prst="line">
            <a:avLst/>
          </a:prstGeom>
          <a:noFill/>
          <a:ln w="15875">
            <a:solidFill>
              <a:srgbClr val="466A38"/>
            </a:solidFill>
            <a:prstDash val="solid"/>
          </a:ln>
        </p:spPr>
      </p:sp>
      <p:sp>
        <p:nvSpPr>
          <p:cNvPr id="36" name="Shape 33"/>
          <p:cNvSpPr/>
          <p:nvPr/>
        </p:nvSpPr>
        <p:spPr>
          <a:xfrm>
            <a:off x="6766560" y="437083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7059168" y="4114800"/>
            <a:ext cx="4462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piezas, una sola clase</a:t>
            </a:r>
            <a:endParaRPr lang="en-US" sz="1700" dirty="0"/>
          </a:p>
        </p:txBody>
      </p:sp>
      <p:sp>
        <p:nvSpPr>
          <p:cNvPr id="38" name="Shape 35"/>
          <p:cNvSpPr/>
          <p:nvPr/>
        </p:nvSpPr>
        <p:spPr>
          <a:xfrm>
            <a:off x="6766560" y="501091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7059168" y="4754880"/>
            <a:ext cx="4462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pieza nueva es una estrategia nueva</a:t>
            </a:r>
            <a:endParaRPr lang="en-US" sz="1700" dirty="0"/>
          </a:p>
        </p:txBody>
      </p:sp>
      <p:sp>
        <p:nvSpPr>
          <p:cNvPr id="40" name="Shape 37"/>
          <p:cNvSpPr/>
          <p:nvPr/>
        </p:nvSpPr>
        <p:spPr>
          <a:xfrm>
            <a:off x="6766560" y="565099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7059168" y="5394960"/>
            <a:ext cx="4462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árbol de herencia que mantener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FACTORY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Quién crea qué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41908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Ajedrez · Ingeniería de Software · UADE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40080" y="1783080"/>
            <a:ext cx="3474720" cy="3291840"/>
          </a:xfrm>
          <a:prstGeom prst="rect">
            <a:avLst/>
          </a:prstGeom>
          <a:solidFill>
            <a:srgbClr val="F5F6F2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" y="19659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466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PieceFactory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868680" y="246888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registro de tipo de pieza a estrategia. Una pieza nueva se agrega sin editar nada.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868680" y="3794760"/>
            <a:ext cx="3017520" cy="1005840"/>
          </a:xfrm>
          <a:prstGeom prst="rect">
            <a:avLst/>
          </a:prstGeom>
          <a:solidFill>
            <a:srgbClr val="F1F2EC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51560" y="3904488"/>
            <a:ext cx="2651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factory.register(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type, strategy);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4343400" y="1783080"/>
            <a:ext cx="3474720" cy="3291840"/>
          </a:xfrm>
          <a:prstGeom prst="rect">
            <a:avLst/>
          </a:prstGeom>
          <a:solidFill>
            <a:srgbClr val="F5F6F2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572000" y="19659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466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BoardSetup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4572000" y="246888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 el tablero inicial de cualquier tamaño.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4572000" y="3794760"/>
            <a:ext cx="3017520" cy="1005840"/>
          </a:xfrm>
          <a:prstGeom prst="rect">
            <a:avLst/>
          </a:prstGeom>
          <a:solidFill>
            <a:srgbClr val="F1F2EC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754880" y="3904488"/>
            <a:ext cx="2651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BoardSetup.standard(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pieces);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8046720" y="1783080"/>
            <a:ext cx="3474720" cy="3291840"/>
          </a:xfrm>
          <a:prstGeom prst="rect">
            <a:avLst/>
          </a:prstGeom>
          <a:solidFill>
            <a:srgbClr val="F5F6F2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75320" y="19659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466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Opponents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8275320" y="2468880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 el oponente según el nivel que se elige.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8275320" y="3794760"/>
            <a:ext cx="3017520" cy="1005840"/>
          </a:xfrm>
          <a:prstGeom prst="rect">
            <a:avLst/>
          </a:prstGeom>
          <a:solidFill>
            <a:srgbClr val="F1F2EC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8458200" y="3904488"/>
            <a:ext cx="26517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Opponents.create(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level, random);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640080" y="5349240"/>
            <a:ext cx="1088136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14400" y="534924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66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PieceType</a:t>
            </a:r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es una clase de valor y no un enum: un enum es un conjunto cerrado y obligaba a editar la fábrica.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jugada es un objeto que se puede deshacer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41908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Ajedrez · Ingeniería de Software · UADE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2377440" y="1783080"/>
            <a:ext cx="219456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2377440" y="1783080"/>
            <a:ext cx="2194560" cy="5486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ICommand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2377440" y="2697480"/>
            <a:ext cx="2194560" cy="548640"/>
          </a:xfrm>
          <a:prstGeom prst="rect">
            <a:avLst/>
          </a:prstGeom>
          <a:solidFill>
            <a:srgbClr val="EAF0E4"/>
          </a:solidFill>
          <a:ln w="25400">
            <a:solidFill>
              <a:srgbClr val="466A3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2377440" y="2697480"/>
            <a:ext cx="2194560" cy="5486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IMoveCommand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 flipV="1">
            <a:off x="3474720" y="2331720"/>
            <a:ext cx="0" cy="36576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>
            <a:off x="640080" y="3840480"/>
            <a:ext cx="1444752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640080" y="3840480"/>
            <a:ext cx="1444752" cy="6400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MoveCommand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1362456" y="3566160"/>
            <a:ext cx="0" cy="274320"/>
          </a:xfrm>
          <a:prstGeom prst="line">
            <a:avLst/>
          </a:prstGeom>
          <a:noFill/>
          <a:ln w="15875">
            <a:solidFill>
              <a:srgbClr val="466A38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2176272" y="3840480"/>
            <a:ext cx="1444752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2176272" y="3840480"/>
            <a:ext cx="1444752" cy="6400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CastlingCommand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2898648" y="3566160"/>
            <a:ext cx="0" cy="274320"/>
          </a:xfrm>
          <a:prstGeom prst="line">
            <a:avLst/>
          </a:prstGeom>
          <a:noFill/>
          <a:ln w="15875">
            <a:solidFill>
              <a:srgbClr val="466A3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3712464" y="3840480"/>
            <a:ext cx="1444752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712464" y="3840480"/>
            <a:ext cx="1444752" cy="6400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PromotionCommand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434840" y="3566160"/>
            <a:ext cx="0" cy="274320"/>
          </a:xfrm>
          <a:prstGeom prst="line">
            <a:avLst/>
          </a:prstGeom>
          <a:noFill/>
          <a:ln w="15875">
            <a:solidFill>
              <a:srgbClr val="466A3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5248656" y="3840480"/>
            <a:ext cx="1444752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248656" y="3840480"/>
            <a:ext cx="1444752" cy="6400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EnPassantCommand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971032" y="3566160"/>
            <a:ext cx="0" cy="274320"/>
          </a:xfrm>
          <a:prstGeom prst="line">
            <a:avLst/>
          </a:prstGeom>
          <a:noFill/>
          <a:ln w="15875">
            <a:solidFill>
              <a:srgbClr val="466A38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1362456" y="3566160"/>
            <a:ext cx="4608576" cy="0"/>
          </a:xfrm>
          <a:prstGeom prst="line">
            <a:avLst/>
          </a:prstGeom>
          <a:noFill/>
          <a:ln w="15875">
            <a:solidFill>
              <a:srgbClr val="466A3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3474720" y="3246120"/>
            <a:ext cx="0" cy="320040"/>
          </a:xfrm>
          <a:prstGeom prst="line">
            <a:avLst/>
          </a:prstGeom>
          <a:noFill/>
          <a:ln w="15875">
            <a:solidFill>
              <a:srgbClr val="466A3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40080" y="4846320"/>
            <a:ext cx="5943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comando guarda lo necesario para revertir: la pieza capturada, la torre del enroque, el peón de la coronación.</a:t>
            </a:r>
            <a:endParaRPr lang="en-US" sz="1600" dirty="0"/>
          </a:p>
        </p:txBody>
      </p:sp>
      <p:sp>
        <p:nvSpPr>
          <p:cNvPr id="27" name="Text 24"/>
          <p:cNvSpPr/>
          <p:nvPr/>
        </p:nvSpPr>
        <p:spPr>
          <a:xfrm>
            <a:off x="6858000" y="178308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</a:t>
            </a:r>
            <a:endParaRPr lang="en-US" sz="1100" dirty="0"/>
          </a:p>
        </p:txBody>
      </p:sp>
      <p:sp>
        <p:nvSpPr>
          <p:cNvPr id="28" name="Text 25"/>
          <p:cNvSpPr/>
          <p:nvPr/>
        </p:nvSpPr>
        <p:spPr>
          <a:xfrm>
            <a:off x="9784080" y="17830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REHACER</a:t>
            </a:r>
            <a:endParaRPr lang="en-US" sz="1100" dirty="0"/>
          </a:p>
        </p:txBody>
      </p:sp>
      <p:sp>
        <p:nvSpPr>
          <p:cNvPr id="29" name="Shape 26"/>
          <p:cNvSpPr/>
          <p:nvPr/>
        </p:nvSpPr>
        <p:spPr>
          <a:xfrm>
            <a:off x="6858000" y="2148840"/>
            <a:ext cx="2011680" cy="530352"/>
          </a:xfrm>
          <a:prstGeom prst="rect">
            <a:avLst/>
          </a:prstGeom>
          <a:solidFill>
            <a:srgbClr val="EAF0E4"/>
          </a:solidFill>
          <a:ln w="12700">
            <a:solidFill>
              <a:srgbClr val="466A3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858000" y="2148840"/>
            <a:ext cx="2011680" cy="53035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jugada 3</a:t>
            </a:r>
            <a:endParaRPr lang="en-US" sz="1400" dirty="0"/>
          </a:p>
        </p:txBody>
      </p:sp>
      <p:sp>
        <p:nvSpPr>
          <p:cNvPr id="31" name="Shape 28"/>
          <p:cNvSpPr/>
          <p:nvPr/>
        </p:nvSpPr>
        <p:spPr>
          <a:xfrm>
            <a:off x="6858000" y="2788920"/>
            <a:ext cx="20116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858000" y="2788920"/>
            <a:ext cx="2011680" cy="53035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jugada 2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6858000" y="3429000"/>
            <a:ext cx="201168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858000" y="3429000"/>
            <a:ext cx="2011680" cy="53035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jugada 1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9784080" y="2148840"/>
            <a:ext cx="17373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9784080" y="2148840"/>
            <a:ext cx="1737360" cy="530352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jugada 4</a:t>
            </a:r>
            <a:endParaRPr lang="en-US" sz="1400" dirty="0"/>
          </a:p>
        </p:txBody>
      </p:sp>
      <p:sp>
        <p:nvSpPr>
          <p:cNvPr id="37" name="Shape 34"/>
          <p:cNvSpPr/>
          <p:nvPr/>
        </p:nvSpPr>
        <p:spPr>
          <a:xfrm>
            <a:off x="8915400" y="2286000"/>
            <a:ext cx="822960" cy="0"/>
          </a:xfrm>
          <a:prstGeom prst="line">
            <a:avLst/>
          </a:prstGeom>
          <a:noFill/>
          <a:ln w="19050">
            <a:solidFill>
              <a:srgbClr val="466A38"/>
            </a:solidFill>
            <a:prstDash val="solid"/>
            <a:tailEnd type="triangle"/>
          </a:ln>
        </p:spPr>
      </p:sp>
      <p:sp>
        <p:nvSpPr>
          <p:cNvPr id="38" name="Shape 35"/>
          <p:cNvSpPr/>
          <p:nvPr/>
        </p:nvSpPr>
        <p:spPr>
          <a:xfrm flipH="1">
            <a:off x="8915400" y="2606040"/>
            <a:ext cx="822960" cy="0"/>
          </a:xfrm>
          <a:prstGeom prst="line">
            <a:avLst/>
          </a:prstGeom>
          <a:noFill/>
          <a:ln w="19050">
            <a:solidFill>
              <a:srgbClr val="466A38"/>
            </a:solidFill>
            <a:prstDash val="solid"/>
            <a:tailEnd type="triangle"/>
          </a:ln>
        </p:spPr>
      </p:sp>
      <p:sp>
        <p:nvSpPr>
          <p:cNvPr id="39" name="Text 36"/>
          <p:cNvSpPr/>
          <p:nvPr/>
        </p:nvSpPr>
        <p:spPr>
          <a:xfrm>
            <a:off x="8961120" y="1984248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66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undo()</a:t>
            </a:r>
            <a:endParaRPr lang="en-US" sz="1200" dirty="0"/>
          </a:p>
        </p:txBody>
      </p:sp>
      <p:sp>
        <p:nvSpPr>
          <p:cNvPr id="40" name="Text 37"/>
          <p:cNvSpPr/>
          <p:nvPr/>
        </p:nvSpPr>
        <p:spPr>
          <a:xfrm>
            <a:off x="8961120" y="26974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66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redo()</a:t>
            </a:r>
            <a:endParaRPr lang="en-US" sz="1200" dirty="0"/>
          </a:p>
        </p:txBody>
      </p:sp>
      <p:sp>
        <p:nvSpPr>
          <p:cNvPr id="41" name="Shape 38"/>
          <p:cNvSpPr/>
          <p:nvPr/>
        </p:nvSpPr>
        <p:spPr>
          <a:xfrm>
            <a:off x="6858000" y="427939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7150608" y="4069080"/>
            <a:ext cx="4370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Deshacer vuelve al estado anterior</a:t>
            </a:r>
            <a:endParaRPr lang="en-US" sz="1600" dirty="0"/>
          </a:p>
        </p:txBody>
      </p:sp>
      <p:sp>
        <p:nvSpPr>
          <p:cNvPr id="43" name="Shape 40"/>
          <p:cNvSpPr/>
          <p:nvPr/>
        </p:nvSpPr>
        <p:spPr>
          <a:xfrm>
            <a:off x="6858000" y="482803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7150608" y="4617720"/>
            <a:ext cx="4370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Rehacer reaplica la jugada guardada</a:t>
            </a:r>
            <a:endParaRPr lang="en-US" sz="1600" dirty="0"/>
          </a:p>
        </p:txBody>
      </p:sp>
      <p:sp>
        <p:nvSpPr>
          <p:cNvPr id="45" name="Shape 42"/>
          <p:cNvSpPr/>
          <p:nvPr/>
        </p:nvSpPr>
        <p:spPr>
          <a:xfrm>
            <a:off x="6858000" y="537667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7150608" y="5166360"/>
            <a:ext cx="4370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jugada nueva vacía lo que se podía rehacer</a:t>
            </a:r>
            <a:endParaRPr lang="en-US" sz="1600" dirty="0"/>
          </a:p>
        </p:txBody>
      </p:sp>
      <p:sp>
        <p:nvSpPr>
          <p:cNvPr id="47" name="Shape 44"/>
          <p:cNvSpPr/>
          <p:nvPr/>
        </p:nvSpPr>
        <p:spPr>
          <a:xfrm>
            <a:off x="6858000" y="592531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7150608" y="5715000"/>
            <a:ext cx="437083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casillas tocadas dan el derecho de enroque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turno y el final de la partida son estados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41908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Ajedrez · Ingeniería de Software · UADE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1828800" y="1828800"/>
            <a:ext cx="3108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1828800" y="1828800"/>
            <a:ext cx="3108960" cy="8229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WhiteTurnState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223760" y="1828800"/>
            <a:ext cx="310896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223760" y="1828800"/>
            <a:ext cx="3108960" cy="8229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BlackTurnState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4937760" y="2103120"/>
            <a:ext cx="2286000" cy="0"/>
          </a:xfrm>
          <a:prstGeom prst="line">
            <a:avLst/>
          </a:prstGeom>
          <a:noFill/>
          <a:ln w="19050">
            <a:solidFill>
              <a:srgbClr val="466A38"/>
            </a:solidFill>
            <a:prstDash val="solid"/>
            <a:tailEnd type="triangle"/>
          </a:ln>
        </p:spPr>
      </p:sp>
      <p:sp>
        <p:nvSpPr>
          <p:cNvPr id="12" name="Shape 9"/>
          <p:cNvSpPr/>
          <p:nvPr/>
        </p:nvSpPr>
        <p:spPr>
          <a:xfrm flipH="1">
            <a:off x="4937760" y="2377440"/>
            <a:ext cx="2286000" cy="0"/>
          </a:xfrm>
          <a:prstGeom prst="line">
            <a:avLst/>
          </a:prstGeom>
          <a:noFill/>
          <a:ln w="19050">
            <a:solidFill>
              <a:srgbClr val="466A38"/>
            </a:solidFill>
            <a:prstDash val="solid"/>
            <a:tailEnd type="triangle"/>
          </a:ln>
        </p:spPr>
      </p:sp>
      <p:sp>
        <p:nvSpPr>
          <p:cNvPr id="13" name="Text 10"/>
          <p:cNvSpPr/>
          <p:nvPr/>
        </p:nvSpPr>
        <p:spPr>
          <a:xfrm>
            <a:off x="4937760" y="1783080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66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afterMove()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40080" y="3657600"/>
            <a:ext cx="10881360" cy="1691640"/>
          </a:xfrm>
          <a:prstGeom prst="rect">
            <a:avLst/>
          </a:prstGeom>
          <a:solidFill>
            <a:srgbClr val="FFFFFF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14400" y="37947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 TERMINALES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914400" y="4389120"/>
            <a:ext cx="3108960" cy="640080"/>
          </a:xfrm>
          <a:prstGeom prst="rect">
            <a:avLst/>
          </a:prstGeom>
          <a:solidFill>
            <a:srgbClr val="F5F6F2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14400" y="4389120"/>
            <a:ext cx="3108960" cy="6400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CheckmateState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4434840" y="4389120"/>
            <a:ext cx="3108960" cy="640080"/>
          </a:xfrm>
          <a:prstGeom prst="rect">
            <a:avLst/>
          </a:prstGeom>
          <a:solidFill>
            <a:srgbClr val="F5F6F2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434840" y="4389120"/>
            <a:ext cx="3108960" cy="6400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StalemateState</a:t>
            </a:r>
            <a:endParaRPr lang="en-US" sz="1400" dirty="0"/>
          </a:p>
        </p:txBody>
      </p:sp>
      <p:sp>
        <p:nvSpPr>
          <p:cNvPr id="20" name="Shape 17"/>
          <p:cNvSpPr/>
          <p:nvPr/>
        </p:nvSpPr>
        <p:spPr>
          <a:xfrm>
            <a:off x="7955280" y="4389120"/>
            <a:ext cx="3108960" cy="640080"/>
          </a:xfrm>
          <a:prstGeom prst="rect">
            <a:avLst/>
          </a:prstGeom>
          <a:solidFill>
            <a:srgbClr val="F5F6F2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7955280" y="4389120"/>
            <a:ext cx="3108960" cy="6400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DrawState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3383280" y="2651760"/>
            <a:ext cx="0" cy="100584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>
            <a:off x="8778240" y="2651760"/>
            <a:ext cx="0" cy="100584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  <a:tailEnd type="triangle"/>
          </a:ln>
        </p:spPr>
      </p:sp>
      <p:sp>
        <p:nvSpPr>
          <p:cNvPr id="24" name="Text 21"/>
          <p:cNvSpPr/>
          <p:nvPr/>
        </p:nvSpPr>
        <p:spPr>
          <a:xfrm>
            <a:off x="3520440" y="301752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mate, ahogado o tablas</a:t>
            </a:r>
            <a:endParaRPr lang="en-US" sz="1300" dirty="0"/>
          </a:p>
        </p:txBody>
      </p:sp>
      <p:sp>
        <p:nvSpPr>
          <p:cNvPr id="25" name="Shape 22"/>
          <p:cNvSpPr/>
          <p:nvPr/>
        </p:nvSpPr>
        <p:spPr>
          <a:xfrm>
            <a:off x="640080" y="562813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32688" y="5486400"/>
            <a:ext cx="10588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un estado terminal no se sale jugando, solo deshaciendo</a:t>
            </a:r>
            <a:endParaRPr lang="en-US" sz="1600" dirty="0"/>
          </a:p>
        </p:txBody>
      </p:sp>
      <p:sp>
        <p:nvSpPr>
          <p:cNvPr id="27" name="Shape 24"/>
          <p:cNvSpPr/>
          <p:nvPr/>
        </p:nvSpPr>
        <p:spPr>
          <a:xfrm>
            <a:off x="640080" y="603961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932688" y="5897880"/>
            <a:ext cx="105887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Ya no hace falta un booleano gameOver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OBSERVER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núcleo avisa sin saber quién escucha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41908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Ajedrez · Ingeniería de Software · UADE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40080" y="1783080"/>
            <a:ext cx="3657600" cy="3291840"/>
          </a:xfrm>
          <a:prstGeom prst="rect">
            <a:avLst/>
          </a:prstGeom>
          <a:solidFill>
            <a:srgbClr val="F5F6F2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754880" y="1783080"/>
            <a:ext cx="3474720" cy="3291840"/>
          </a:xfrm>
          <a:prstGeom prst="rect">
            <a:avLst/>
          </a:prstGeom>
          <a:solidFill>
            <a:srgbClr val="F5F6F2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8686800" y="1783080"/>
            <a:ext cx="2834640" cy="3291840"/>
          </a:xfrm>
          <a:prstGeom prst="rect">
            <a:avLst/>
          </a:prstGeom>
          <a:solidFill>
            <a:srgbClr val="F5F6F2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68680" y="19659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466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IMoveListener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4983480" y="19659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466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IGameStatusListener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8915400" y="1965960"/>
            <a:ext cx="2468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Quién escucha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868680" y="26060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onMoveMade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868680" y="30632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onCastling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868680" y="35204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onPromotion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868680" y="39776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onUndo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868680" y="44348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onRedo</a:t>
            </a:r>
            <a:endParaRPr lang="en-US" sz="1400" dirty="0"/>
          </a:p>
        </p:txBody>
      </p:sp>
      <p:sp>
        <p:nvSpPr>
          <p:cNvPr id="18" name="Text 15"/>
          <p:cNvSpPr/>
          <p:nvPr/>
        </p:nvSpPr>
        <p:spPr>
          <a:xfrm>
            <a:off x="4983480" y="26060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onInvalidMove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4983480" y="30632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onCheck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4983480" y="35204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onCheckmate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4983480" y="39776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onStalemate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4983480" y="44348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onDraw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8915400" y="2606040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ConsoleRenderer</a:t>
            </a:r>
            <a:endParaRPr lang="en-US" sz="1300" dirty="0"/>
          </a:p>
        </p:txBody>
      </p:sp>
      <p:sp>
        <p:nvSpPr>
          <p:cNvPr id="24" name="Text 21"/>
          <p:cNvSpPr/>
          <p:nvPr/>
        </p:nvSpPr>
        <p:spPr>
          <a:xfrm>
            <a:off x="8915400" y="3383280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SwingChessView</a:t>
            </a:r>
            <a:endParaRPr lang="en-US" sz="1300" dirty="0"/>
          </a:p>
        </p:txBody>
      </p:sp>
      <p:sp>
        <p:nvSpPr>
          <p:cNvPr id="25" name="Text 22"/>
          <p:cNvSpPr/>
          <p:nvPr/>
        </p:nvSpPr>
        <p:spPr>
          <a:xfrm>
            <a:off x="8915400" y="4160520"/>
            <a:ext cx="2423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RecordingObserver (mock de los tests)</a:t>
            </a:r>
            <a:endParaRPr lang="en-US" sz="1300" dirty="0"/>
          </a:p>
        </p:txBody>
      </p:sp>
      <p:sp>
        <p:nvSpPr>
          <p:cNvPr id="26" name="Shape 23"/>
          <p:cNvSpPr/>
          <p:nvPr/>
        </p:nvSpPr>
        <p:spPr>
          <a:xfrm flipH="1">
            <a:off x="8275320" y="3566160"/>
            <a:ext cx="365760" cy="0"/>
          </a:xfrm>
          <a:prstGeom prst="line">
            <a:avLst/>
          </a:prstGeom>
          <a:noFill/>
          <a:ln w="19050">
            <a:solidFill>
              <a:srgbClr val="466A38"/>
            </a:solidFill>
            <a:prstDash val="solid"/>
            <a:tailEnd type="triangle"/>
          </a:ln>
        </p:spPr>
      </p:sp>
      <p:sp>
        <p:nvSpPr>
          <p:cNvPr id="27" name="Shape 24"/>
          <p:cNvSpPr/>
          <p:nvPr/>
        </p:nvSpPr>
        <p:spPr>
          <a:xfrm>
            <a:off x="640080" y="555955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932688" y="5394960"/>
            <a:ext cx="10588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adaptador implementa solo lo que usa (Interface Segregation)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ENCHUFABLES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regla nueva es una clase nueva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41908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Ajedrez · Ingeniería de Software · UADE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40080" y="1783080"/>
            <a:ext cx="5303520" cy="3291840"/>
          </a:xfrm>
          <a:prstGeom prst="rect">
            <a:avLst/>
          </a:prstGeom>
          <a:solidFill>
            <a:srgbClr val="F5F6F2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217920" y="1783080"/>
            <a:ext cx="5303520" cy="3291840"/>
          </a:xfrm>
          <a:prstGeom prst="rect">
            <a:avLst/>
          </a:prstGeom>
          <a:solidFill>
            <a:srgbClr val="F5F6F2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14400" y="196596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466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ISpecialMove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6492240" y="196596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466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IDrawRule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914400" y="23774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Jugadas que el movimiento normal no cubre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6492240" y="23774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Condiciones de tablas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914400" y="2880360"/>
            <a:ext cx="47548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14400" y="2880360"/>
            <a:ext cx="4754880" cy="5486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CastlingMove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914400" y="3566160"/>
            <a:ext cx="47548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4400" y="3566160"/>
            <a:ext cx="4754880" cy="5486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EnPassantMove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914400" y="4251960"/>
            <a:ext cx="47548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14400" y="4251960"/>
            <a:ext cx="4754880" cy="5486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PromotionMove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6492240" y="2880360"/>
            <a:ext cx="47548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492240" y="2880360"/>
            <a:ext cx="4754880" cy="5486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InsufficientMaterialRule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6492240" y="3566160"/>
            <a:ext cx="47548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492240" y="3566160"/>
            <a:ext cx="4754880" cy="5486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FiftyMoveRule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6492240" y="4251960"/>
            <a:ext cx="4754880" cy="548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492240" y="4251960"/>
            <a:ext cx="4754880" cy="54864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ThreefoldRepetitionRule</a:t>
            </a:r>
            <a:endParaRPr lang="en-US" sz="1400" dirty="0"/>
          </a:p>
        </p:txBody>
      </p:sp>
      <p:sp>
        <p:nvSpPr>
          <p:cNvPr id="25" name="Shape 22"/>
          <p:cNvSpPr/>
          <p:nvPr/>
        </p:nvSpPr>
        <p:spPr>
          <a:xfrm>
            <a:off x="640080" y="5349240"/>
            <a:ext cx="1088136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914400" y="534924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nueva: una clase y una línea en el armado. ChessGame no se toca (Open/Closed).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EXTENSIBILIDAD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que se puede pedir en la defensa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41908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Ajedrez · Ingeniería de Software · UADE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40080" y="1783080"/>
            <a:ext cx="3474720" cy="3977640"/>
          </a:xfrm>
          <a:prstGeom prst="rect">
            <a:avLst/>
          </a:prstGeom>
          <a:solidFill>
            <a:srgbClr val="F5F6F2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" y="19659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pieza nueva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868680" y="24231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estrategia y un registro.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868680" y="2926080"/>
            <a:ext cx="3017520" cy="1508760"/>
          </a:xfrm>
          <a:prstGeom prst="rect">
            <a:avLst/>
          </a:prstGeom>
          <a:solidFill>
            <a:srgbClr val="F1F2EC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51560" y="3035808"/>
            <a:ext cx="2651760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factory.register(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new PieceType(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"CHANCELLOR"),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new Chancellor());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868680" y="46634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868680" y="48920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testNewPieceWithout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TouchingExistingClasses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343400" y="1783080"/>
            <a:ext cx="3474720" cy="3977640"/>
          </a:xfrm>
          <a:prstGeom prst="rect">
            <a:avLst/>
          </a:prstGeom>
          <a:solidFill>
            <a:srgbClr val="F5F6F2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572000" y="19659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Otro tablero</a:t>
            </a:r>
            <a:endParaRPr lang="en-US" sz="2000" dirty="0"/>
          </a:p>
        </p:txBody>
      </p:sp>
      <p:sp>
        <p:nvSpPr>
          <p:cNvPr id="16" name="Text 13"/>
          <p:cNvSpPr/>
          <p:nvPr/>
        </p:nvSpPr>
        <p:spPr>
          <a:xfrm>
            <a:off x="4572000" y="24231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tamaño es un dato.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4572000" y="2926080"/>
            <a:ext cx="3017520" cy="1508760"/>
          </a:xfrm>
          <a:prstGeom prst="rect">
            <a:avLst/>
          </a:prstGeom>
          <a:solidFill>
            <a:srgbClr val="F1F2EC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754880" y="3035808"/>
            <a:ext cx="2651760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Board board =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new Board(10, 10);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4572000" y="46634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4572000" y="48920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testBoardOfAnotherSize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8046720" y="1783080"/>
            <a:ext cx="3474720" cy="3977640"/>
          </a:xfrm>
          <a:prstGeom prst="rect">
            <a:avLst/>
          </a:prstGeom>
          <a:solidFill>
            <a:srgbClr val="F5F6F2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8275320" y="19659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Una regla de tablas</a:t>
            </a:r>
            <a:endParaRPr lang="en-US" sz="2000" dirty="0"/>
          </a:p>
        </p:txBody>
      </p:sp>
      <p:sp>
        <p:nvSpPr>
          <p:cNvPr id="23" name="Text 20"/>
          <p:cNvSpPr/>
          <p:nvPr/>
        </p:nvSpPr>
        <p:spPr>
          <a:xfrm>
            <a:off x="8275320" y="24231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inyecta por constructor.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8275320" y="2926080"/>
            <a:ext cx="3017520" cy="1508760"/>
          </a:xfrm>
          <a:prstGeom prst="rect">
            <a:avLst/>
          </a:prstGeom>
          <a:solidFill>
            <a:srgbClr val="F1F2EC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8458200" y="3035808"/>
            <a:ext cx="2651760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drawRules.add(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new MiRegla());</a:t>
            </a:r>
            <a:endParaRPr lang="en-US" sz="1400" dirty="0"/>
          </a:p>
        </p:txBody>
      </p:sp>
      <p:sp>
        <p:nvSpPr>
          <p:cNvPr id="26" name="Text 23"/>
          <p:cNvSpPr/>
          <p:nvPr/>
        </p:nvSpPr>
        <p:spPr>
          <a:xfrm>
            <a:off x="8275320" y="466344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spc="2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8275320" y="489204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testNewDrawRuleWithout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TouchingExistingClasses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Núcleo probado sin ninguna infraestructura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41908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Ajedrez · Ingeniería de Software · UADE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640080" y="1554480"/>
            <a:ext cx="47548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0" b="1" dirty="0">
                <a:solidFill>
                  <a:srgbClr val="466A3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</a:t>
            </a:r>
            <a:endParaRPr lang="en-US" sz="13000" dirty="0"/>
          </a:p>
        </p:txBody>
      </p:sp>
      <p:sp>
        <p:nvSpPr>
          <p:cNvPr id="8" name="Text 5"/>
          <p:cNvSpPr/>
          <p:nvPr/>
        </p:nvSpPr>
        <p:spPr>
          <a:xfrm>
            <a:off x="640080" y="36118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 del núcleo y 20 de usuarios, todos pasan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640080" y="4297680"/>
            <a:ext cx="3840480" cy="685800"/>
          </a:xfrm>
          <a:prstGeom prst="rect">
            <a:avLst/>
          </a:prstGeom>
          <a:solidFill>
            <a:srgbClr val="F1F2EC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4407408"/>
            <a:ext cx="347472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118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./scripts/test.sh</a:t>
            </a:r>
            <a:endParaRPr lang="en-US" sz="1700" dirty="0"/>
          </a:p>
        </p:txBody>
      </p:sp>
      <p:sp>
        <p:nvSpPr>
          <p:cNvPr id="11" name="Shape 8"/>
          <p:cNvSpPr/>
          <p:nvPr/>
        </p:nvSpPr>
        <p:spPr>
          <a:xfrm>
            <a:off x="6035040" y="222199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327648" y="1920240"/>
            <a:ext cx="5193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Arrange, Act, Assert en cada uno</a:t>
            </a:r>
            <a:endParaRPr lang="en-US" sz="1700" dirty="0"/>
          </a:p>
        </p:txBody>
      </p:sp>
      <p:sp>
        <p:nvSpPr>
          <p:cNvPr id="13" name="Shape 10"/>
          <p:cNvSpPr/>
          <p:nvPr/>
        </p:nvSpPr>
        <p:spPr>
          <a:xfrm>
            <a:off x="6035040" y="295351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327648" y="2651760"/>
            <a:ext cx="5193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stub, un mock y un fake como dobles de prueba</a:t>
            </a:r>
            <a:endParaRPr lang="en-US" sz="1700" dirty="0"/>
          </a:p>
        </p:txBody>
      </p:sp>
      <p:sp>
        <p:nvSpPr>
          <p:cNvPr id="15" name="Shape 12"/>
          <p:cNvSpPr/>
          <p:nvPr/>
        </p:nvSpPr>
        <p:spPr>
          <a:xfrm>
            <a:off x="6035040" y="368503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27648" y="3383280"/>
            <a:ext cx="5193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marcados TDD se escribieron antes que el código</a:t>
            </a:r>
            <a:endParaRPr lang="en-US" sz="1700" dirty="0"/>
          </a:p>
        </p:txBody>
      </p:sp>
      <p:sp>
        <p:nvSpPr>
          <p:cNvPr id="17" name="Shape 14"/>
          <p:cNvSpPr/>
          <p:nvPr/>
        </p:nvSpPr>
        <p:spPr>
          <a:xfrm>
            <a:off x="6035040" y="441655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327648" y="4114800"/>
            <a:ext cx="5193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Pieza nueva, tablero de otro tamaño y regla nueva, probados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6035040" y="514807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327648" y="4846320"/>
            <a:ext cx="519379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de integración de la consola y de la ventana Swing</a:t>
            </a:r>
            <a:endParaRPr lang="en-US" sz="17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OPONENTE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Tres niveles, afuera del núcleo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41908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Ajedrez · Ingeniería de Software · UADE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40080" y="1783080"/>
            <a:ext cx="3474720" cy="2743200"/>
          </a:xfrm>
          <a:prstGeom prst="rect">
            <a:avLst/>
          </a:prstGeom>
          <a:solidFill>
            <a:srgbClr val="F5F6F2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68680" y="19659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Fácil</a:t>
            </a:r>
            <a:endParaRPr lang="en-US" sz="2600" dirty="0"/>
          </a:p>
        </p:txBody>
      </p:sp>
      <p:sp>
        <p:nvSpPr>
          <p:cNvPr id="9" name="Text 6"/>
          <p:cNvSpPr/>
          <p:nvPr/>
        </p:nvSpPr>
        <p:spPr>
          <a:xfrm>
            <a:off x="868680" y="25603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66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RandomOpponent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68680" y="301752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Elige una jugada legal al azar.</a:t>
            </a:r>
            <a:endParaRPr lang="en-US" sz="1600" dirty="0"/>
          </a:p>
        </p:txBody>
      </p:sp>
      <p:sp>
        <p:nvSpPr>
          <p:cNvPr id="11" name="Shape 8"/>
          <p:cNvSpPr/>
          <p:nvPr/>
        </p:nvSpPr>
        <p:spPr>
          <a:xfrm>
            <a:off x="4343400" y="1783080"/>
            <a:ext cx="3474720" cy="2743200"/>
          </a:xfrm>
          <a:prstGeom prst="rect">
            <a:avLst/>
          </a:prstGeom>
          <a:solidFill>
            <a:srgbClr val="F5F6F2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0" y="19659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Medio</a:t>
            </a:r>
            <a:endParaRPr lang="en-US" sz="2600" dirty="0"/>
          </a:p>
        </p:txBody>
      </p:sp>
      <p:sp>
        <p:nvSpPr>
          <p:cNvPr id="13" name="Text 10"/>
          <p:cNvSpPr/>
          <p:nvPr/>
        </p:nvSpPr>
        <p:spPr>
          <a:xfrm>
            <a:off x="4572000" y="25603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66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GreedyOpponent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4572000" y="301752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Prefiere la captura de la pieza de más valor. Si no hay, al azar.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8046720" y="1783080"/>
            <a:ext cx="3474720" cy="2743200"/>
          </a:xfrm>
          <a:prstGeom prst="rect">
            <a:avLst/>
          </a:prstGeom>
          <a:solidFill>
            <a:srgbClr val="F5F6F2"/>
          </a:solidFill>
          <a:ln w="9525">
            <a:solidFill>
              <a:srgbClr val="D4D8C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75320" y="19659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Difícil</a:t>
            </a:r>
            <a:endParaRPr lang="en-US" sz="2600" dirty="0"/>
          </a:p>
        </p:txBody>
      </p:sp>
      <p:sp>
        <p:nvSpPr>
          <p:cNvPr id="17" name="Text 14"/>
          <p:cNvSpPr/>
          <p:nvPr/>
        </p:nvSpPr>
        <p:spPr>
          <a:xfrm>
            <a:off x="8275320" y="25603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466A3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MinimaxOpponent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8275320" y="301752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su jugada y la respuesta del rival, y se queda con la que deja mejor material y posición.</a:t>
            </a:r>
            <a:endParaRPr lang="en-US" sz="1600" dirty="0"/>
          </a:p>
        </p:txBody>
      </p:sp>
      <p:sp>
        <p:nvSpPr>
          <p:cNvPr id="19" name="Shape 16"/>
          <p:cNvSpPr/>
          <p:nvPr/>
        </p:nvSpPr>
        <p:spPr>
          <a:xfrm>
            <a:off x="640080" y="507949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32688" y="4846320"/>
            <a:ext cx="105887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conoce IChessGame y piensa en una copia de la partida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640080" y="567385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32688" y="5440680"/>
            <a:ext cx="1058875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Puntaje: material más centro, desarrollo y rey seguro; el mate vale más que todo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USUARIOS Y RANKING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puerto de salida más, sin tocar el núcleo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41908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Ajedrez · Ingeniería de Software · UADE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640080" y="1828800"/>
            <a:ext cx="23774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640080" y="1828800"/>
            <a:ext cx="2377440" cy="7315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ChessGame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657600" y="1828800"/>
            <a:ext cx="2651760" cy="731520"/>
          </a:xfrm>
          <a:prstGeom prst="rect">
            <a:avLst/>
          </a:prstGeom>
          <a:solidFill>
            <a:srgbClr val="EAF0E4"/>
          </a:solidFill>
          <a:ln w="19050">
            <a:solidFill>
              <a:srgbClr val="466A3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3657600" y="1828800"/>
            <a:ext cx="2651760" cy="7315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ScoreRecorder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(Observer)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949440" y="1828800"/>
            <a:ext cx="23774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949440" y="1828800"/>
            <a:ext cx="2377440" cy="7315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AccountService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949440" y="3063240"/>
            <a:ext cx="2377440" cy="640080"/>
          </a:xfrm>
          <a:prstGeom prst="rect">
            <a:avLst/>
          </a:prstGeom>
          <a:solidFill>
            <a:srgbClr val="EAF0E4"/>
          </a:solidFill>
          <a:ln w="19050">
            <a:solidFill>
              <a:srgbClr val="466A3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949440" y="3063240"/>
            <a:ext cx="2377440" cy="64008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IAccountStore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9692640" y="2971800"/>
            <a:ext cx="182880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692640" y="2971800"/>
            <a:ext cx="1828800" cy="82296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FileAccountStore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b="1" dirty="0">
                <a:solidFill>
                  <a:srgbClr val="1F29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(usuarios.csv)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9692640" y="1828800"/>
            <a:ext cx="18288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4D8C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692640" y="1828800"/>
            <a:ext cx="1828800" cy="731520"/>
          </a:xfrm>
          <a:prstGeom prst="rect">
            <a:avLst/>
          </a:prstGeom>
          <a:noFill/>
          <a:ln/>
        </p:spPr>
        <p:txBody>
          <a:bodyPr wrap="square" lIns="762" tIns="762" rIns="762" bIns="762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Menú de la ventana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consola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3017520" y="2194560"/>
            <a:ext cx="640080" cy="0"/>
          </a:xfrm>
          <a:prstGeom prst="line">
            <a:avLst/>
          </a:prstGeom>
          <a:noFill/>
          <a:ln w="19050">
            <a:solidFill>
              <a:srgbClr val="466A38"/>
            </a:solidFill>
            <a:prstDash val="solid"/>
            <a:tailEnd type="triangle"/>
          </a:ln>
        </p:spPr>
      </p:sp>
      <p:sp>
        <p:nvSpPr>
          <p:cNvPr id="20" name="Shape 17"/>
          <p:cNvSpPr/>
          <p:nvPr/>
        </p:nvSpPr>
        <p:spPr>
          <a:xfrm>
            <a:off x="6309360" y="2194560"/>
            <a:ext cx="640080" cy="0"/>
          </a:xfrm>
          <a:prstGeom prst="line">
            <a:avLst/>
          </a:prstGeom>
          <a:noFill/>
          <a:ln w="19050">
            <a:solidFill>
              <a:srgbClr val="466A38"/>
            </a:solidFill>
            <a:prstDash val="solid"/>
            <a:tailEnd type="triangle"/>
          </a:ln>
        </p:spPr>
      </p:sp>
      <p:sp>
        <p:nvSpPr>
          <p:cNvPr id="21" name="Shape 18"/>
          <p:cNvSpPr/>
          <p:nvPr/>
        </p:nvSpPr>
        <p:spPr>
          <a:xfrm flipH="1">
            <a:off x="9326880" y="2194560"/>
            <a:ext cx="365760" cy="0"/>
          </a:xfrm>
          <a:prstGeom prst="line">
            <a:avLst/>
          </a:prstGeom>
          <a:noFill/>
          <a:ln w="19050">
            <a:solidFill>
              <a:srgbClr val="466A38"/>
            </a:solidFill>
            <a:prstDash val="solid"/>
            <a:tailEnd type="triangle"/>
          </a:ln>
        </p:spPr>
      </p:sp>
      <p:sp>
        <p:nvSpPr>
          <p:cNvPr id="22" name="Shape 19"/>
          <p:cNvSpPr/>
          <p:nvPr/>
        </p:nvSpPr>
        <p:spPr>
          <a:xfrm>
            <a:off x="8138160" y="2560320"/>
            <a:ext cx="0" cy="502920"/>
          </a:xfrm>
          <a:prstGeom prst="line">
            <a:avLst/>
          </a:prstGeom>
          <a:noFill/>
          <a:ln w="19050">
            <a:solidFill>
              <a:srgbClr val="466A38"/>
            </a:solidFill>
            <a:prstDash val="solid"/>
            <a:tailEnd type="triangle"/>
          </a:ln>
        </p:spPr>
      </p:sp>
      <p:sp>
        <p:nvSpPr>
          <p:cNvPr id="23" name="Shape 20"/>
          <p:cNvSpPr/>
          <p:nvPr/>
        </p:nvSpPr>
        <p:spPr>
          <a:xfrm flipH="1">
            <a:off x="9326880" y="3383280"/>
            <a:ext cx="365760" cy="0"/>
          </a:xfrm>
          <a:prstGeom prst="line">
            <a:avLst/>
          </a:prstGeom>
          <a:noFill/>
          <a:ln w="19050">
            <a:solidFill>
              <a:srgbClr val="466A38"/>
            </a:solidFill>
            <a:prstDash val="solid"/>
            <a:tailEnd type="triangle"/>
          </a:ln>
        </p:spPr>
      </p:sp>
      <p:sp>
        <p:nvSpPr>
          <p:cNvPr id="24" name="Shape 21"/>
          <p:cNvSpPr/>
          <p:nvPr/>
        </p:nvSpPr>
        <p:spPr>
          <a:xfrm>
            <a:off x="640080" y="425653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932688" y="4069080"/>
            <a:ext cx="10588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entra con el nombre; el id lo asigna el sistema y no hay contraseña</a:t>
            </a:r>
            <a:endParaRPr lang="en-US" sz="1700" dirty="0"/>
          </a:p>
        </p:txBody>
      </p:sp>
      <p:sp>
        <p:nvSpPr>
          <p:cNvPr id="26" name="Shape 23"/>
          <p:cNvSpPr/>
          <p:nvPr/>
        </p:nvSpPr>
        <p:spPr>
          <a:xfrm>
            <a:off x="640080" y="475945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932688" y="4572000"/>
            <a:ext cx="10588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puntos por victoria y 1 por empate; ranking por puntos, victorias y nombre</a:t>
            </a:r>
            <a:endParaRPr lang="en-US" sz="1700" dirty="0"/>
          </a:p>
        </p:txBody>
      </p:sp>
      <p:sp>
        <p:nvSpPr>
          <p:cNvPr id="28" name="Shape 25"/>
          <p:cNvSpPr/>
          <p:nvPr/>
        </p:nvSpPr>
        <p:spPr>
          <a:xfrm>
            <a:off x="640080" y="526237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32688" y="5074920"/>
            <a:ext cx="10588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Deshacer el mate devuelve los puntos y rehacerlo los vuelve a sumar</a:t>
            </a:r>
            <a:endParaRPr lang="en-US" sz="1700" dirty="0"/>
          </a:p>
        </p:txBody>
      </p:sp>
      <p:sp>
        <p:nvSpPr>
          <p:cNvPr id="30" name="Shape 27"/>
          <p:cNvSpPr/>
          <p:nvPr/>
        </p:nvSpPr>
        <p:spPr>
          <a:xfrm>
            <a:off x="640080" y="5765292"/>
            <a:ext cx="128016" cy="128016"/>
          </a:xfrm>
          <a:prstGeom prst="rect">
            <a:avLst/>
          </a:prstGeom>
          <a:solidFill>
            <a:srgbClr val="466A38"/>
          </a:solidFill>
          <a:ln w="6350">
            <a:solidFill>
              <a:srgbClr val="466A38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932688" y="5577840"/>
            <a:ext cx="1058875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F29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 la IA solo suma la persona, juegue con blancas o con negras</a:t>
            </a:r>
            <a:endParaRPr lang="en-US" sz="17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466A3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F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Qué se decidió y cuándo se rompería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6419088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 Ajedrez · Ingeniería de Software · UADE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0881360" y="6419088"/>
            <a:ext cx="640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881360" cy="914400"/>
        </p:xfrm>
        <a:graphic>
          <a:graphicData uri="http://schemas.openxmlformats.org/drawingml/2006/table">
            <a:tbl>
              <a:tblPr/>
              <a:tblGrid>
                <a:gridCol w="5394960"/>
                <a:gridCol w="54864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Decisión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66A3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Cuándo se rompería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66A38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Núcleo separado de los adaptadores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 un prototipo descartable de pocos días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Piece con su estrategia de movimiento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 las piezas compartieran mucho estado propio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PieceType abierto y fábrica con registro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 el conjunto de piezas fuera fijo para siempre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Command con historial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 no hiciera falta deshacer ni rehacer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State con estados terminales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solo dos estados alcanzaría un enum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Reglas especiales y de tablas enchufables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una única excepción alcanzaría un if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Usuarios detrás de su propio puerto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F29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usuarios reales: contraseña y base de datos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45720" marB="45720" anchor="ctr">
                    <a:lnL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4D8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4"/>
          <p:cNvSpPr/>
          <p:nvPr/>
        </p:nvSpPr>
        <p:spPr>
          <a:xfrm>
            <a:off x="640080" y="59436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Detalle completo, con el por qué de cada una, en docs/justificacion.</a:t>
            </a:r>
            <a:endParaRPr lang="en-US" sz="14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F29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82296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spc="300" kern="0" dirty="0">
                <a:solidFill>
                  <a:srgbClr val="A9C7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DEMOSTRACIÓN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731520" y="1188720"/>
            <a:ext cx="5943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Probémoslo</a:t>
            </a:r>
            <a:endParaRPr lang="en-US" sz="4400" dirty="0"/>
          </a:p>
        </p:txBody>
      </p:sp>
      <p:sp>
        <p:nvSpPr>
          <p:cNvPr id="5" name="Text 2"/>
          <p:cNvSpPr/>
          <p:nvPr/>
        </p:nvSpPr>
        <p:spPr>
          <a:xfrm>
            <a:off x="731520" y="246888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9C7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400" dirty="0"/>
          </a:p>
        </p:txBody>
      </p:sp>
      <p:sp>
        <p:nvSpPr>
          <p:cNvPr id="6" name="Text 3"/>
          <p:cNvSpPr/>
          <p:nvPr/>
        </p:nvSpPr>
        <p:spPr>
          <a:xfrm>
            <a:off x="1280160" y="246888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Menú: usuarios, 1 contra 1 o contra la IA</a:t>
            </a:r>
            <a:endParaRPr lang="en-US" sz="2000" dirty="0"/>
          </a:p>
        </p:txBody>
      </p:sp>
      <p:sp>
        <p:nvSpPr>
          <p:cNvPr id="7" name="Text 4"/>
          <p:cNvSpPr/>
          <p:nvPr/>
        </p:nvSpPr>
        <p:spPr>
          <a:xfrm>
            <a:off x="731520" y="310896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9C7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1280160" y="310896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Enroque, coronación y captura al paso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731520" y="374904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9C7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1280160" y="374904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Deshacer, rehacer y ranking</a:t>
            </a:r>
            <a:endParaRPr lang="en-US" sz="2000" dirty="0"/>
          </a:p>
        </p:txBody>
      </p:sp>
      <p:sp>
        <p:nvSpPr>
          <p:cNvPr id="11" name="Text 8"/>
          <p:cNvSpPr/>
          <p:nvPr/>
        </p:nvSpPr>
        <p:spPr>
          <a:xfrm>
            <a:off x="731520" y="438912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9C7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400" dirty="0"/>
          </a:p>
        </p:txBody>
      </p:sp>
      <p:sp>
        <p:nvSpPr>
          <p:cNvPr id="12" name="Text 9"/>
          <p:cNvSpPr/>
          <p:nvPr/>
        </p:nvSpPr>
        <p:spPr>
          <a:xfrm>
            <a:off x="1280160" y="438912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 la IA con negras: el tablero se gira</a:t>
            </a:r>
            <a:endParaRPr lang="en-US" sz="2000" dirty="0"/>
          </a:p>
        </p:txBody>
      </p:sp>
      <p:sp>
        <p:nvSpPr>
          <p:cNvPr id="13" name="Text 10"/>
          <p:cNvSpPr/>
          <p:nvPr/>
        </p:nvSpPr>
        <p:spPr>
          <a:xfrm>
            <a:off x="731520" y="5029200"/>
            <a:ext cx="457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9C79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1280160" y="502920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pieza nueva, sin tocar el núcleo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731520" y="580644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Gracias</a:t>
            </a:r>
            <a:endParaRPr lang="en-US" sz="2800" dirty="0"/>
          </a:p>
        </p:txBody>
      </p:sp>
      <p:sp>
        <p:nvSpPr>
          <p:cNvPr id="16" name="Shape 13"/>
          <p:cNvSpPr/>
          <p:nvPr/>
        </p:nvSpPr>
        <p:spPr>
          <a:xfrm>
            <a:off x="6858000" y="585216"/>
            <a:ext cx="5005047" cy="568756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17" name="Image 0" descr="/Users/francodamianberon/UADE/Ingenieria de Software/TP - Ajedrez/docs/captur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12864" y="640080"/>
            <a:ext cx="4895319" cy="557784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 Ajedrez: núcleo y adaptadores</dc:title>
  <dc:subject>PptxGenJS Presentation</dc:subject>
  <dc:creator>Franco Beron</dc:creator>
  <cp:lastModifiedBy>Franco Beron</cp:lastModifiedBy>
  <cp:revision>1</cp:revision>
  <dcterms:created xsi:type="dcterms:W3CDTF">2026-10-23T17:22:10Z</dcterms:created>
  <dcterms:modified xsi:type="dcterms:W3CDTF">2026-10-23T17:22:10Z</dcterms:modified>
</cp:coreProperties>
</file>